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6827c559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6827c559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d6827c559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d6827c559_2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d6827c559_2_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d6827c559_2_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d6827c559_2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d6827c559_2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d6827c559_2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6827c559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dd6827c559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d6827c559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d6827c559_2_1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dd6827c559_2_1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d6827c559_2_1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d6827c559_2_2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dd6827c559_2_2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d6827c559_2_2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d6827c559_2_2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dd6827c559_2_2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d6827c559_2_2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d6827c559_2_3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d6827c559_2_3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d6827c559_2_3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1A56D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86384" y="4480560"/>
            <a:ext cx="109728" cy="109728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1115568" y="4480560"/>
            <a:ext cx="109728" cy="109728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444752" y="4480560"/>
            <a:ext cx="109728" cy="109728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1773936" y="4480560"/>
            <a:ext cx="109728" cy="109728"/>
          </a:xfrm>
          <a:prstGeom prst="ellipse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AWS Networking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GB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Private Cloud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57200" y="2468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GB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complete teaching guide — from fundamentals to production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7200" y="3246120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1A56DB">
              <a:alpha val="20000"/>
            </a:srgbClr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57200" y="3246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What is VPC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291840" y="3246120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0E9F6E">
              <a:alpha val="20000"/>
            </a:srgbClr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291840" y="3246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CIDR &amp;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126480" y="3246120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D97706">
              <a:alpha val="20000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126480" y="3246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Subnets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57200" y="3630168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E02424">
              <a:alpha val="20000"/>
            </a:srgbClr>
          </a:solidFill>
          <a:ln cap="flat" cmpd="sng" w="12700">
            <a:solidFill>
              <a:srgbClr val="E0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57200" y="3630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291840" y="3630168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6C2BD9">
              <a:alpha val="20000"/>
            </a:srgbClr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291840" y="3630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NAT &amp; Peering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126480" y="3630168"/>
            <a:ext cx="2651760" cy="274320"/>
          </a:xfrm>
          <a:prstGeom prst="roundRect">
            <a:avLst>
              <a:gd fmla="val 20000" name="adj"/>
            </a:avLst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126480" y="3630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is a VPC?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isolated private network inside the AWS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74320" y="1554480"/>
            <a:ext cx="8595360" cy="32461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65760" y="160020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02920" y="1783080"/>
            <a:ext cx="813816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1A56D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594360" y="1828800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AWS Region (ap-south-1)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77240" y="2103120"/>
            <a:ext cx="7589520" cy="237744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868680" y="21488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Your VPC  10.0.0.0/16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914400" y="2423160"/>
            <a:ext cx="310896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0E9F6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1005840" y="246888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AZ-a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005840" y="2697480"/>
            <a:ext cx="1325880" cy="475488"/>
          </a:xfrm>
          <a:prstGeom prst="roundRect">
            <a:avLst>
              <a:gd fmla="val 15385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005840" y="269748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468880" y="2697480"/>
            <a:ext cx="1417320" cy="475488"/>
          </a:xfrm>
          <a:prstGeom prst="roundRect">
            <a:avLst>
              <a:gd fmla="val 1538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468880" y="269748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005840" y="3310128"/>
            <a:ext cx="1325880" cy="65836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005840" y="3310128"/>
            <a:ext cx="1325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EC2 / ALB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468880" y="3310128"/>
            <a:ext cx="1417320" cy="658368"/>
          </a:xfrm>
          <a:prstGeom prst="rect">
            <a:avLst/>
          </a:prstGeom>
          <a:solidFill>
            <a:srgbClr val="E0E7FF"/>
          </a:solidFill>
          <a:ln cap="flat" cmpd="sng" w="12700">
            <a:solidFill>
              <a:srgbClr val="E0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468880" y="3310128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App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DB / Cache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251960" y="2423160"/>
            <a:ext cx="310896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0E9F6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343400" y="246888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AZ-b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343400" y="2697480"/>
            <a:ext cx="1325880" cy="475488"/>
          </a:xfrm>
          <a:prstGeom prst="roundRect">
            <a:avLst>
              <a:gd fmla="val 15385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343400" y="269748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806440" y="2697480"/>
            <a:ext cx="1417320" cy="475488"/>
          </a:xfrm>
          <a:prstGeom prst="roundRect">
            <a:avLst>
              <a:gd fmla="val 1538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806440" y="269748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343400" y="3310128"/>
            <a:ext cx="1325880" cy="658368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343400" y="3310128"/>
            <a:ext cx="1325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EC2 / ALB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806440" y="3310128"/>
            <a:ext cx="1417320" cy="658368"/>
          </a:xfrm>
          <a:prstGeom prst="rect">
            <a:avLst/>
          </a:prstGeom>
          <a:solidFill>
            <a:srgbClr val="E0E7FF"/>
          </a:solidFill>
          <a:ln cap="flat" cmpd="sng" w="12700">
            <a:solidFill>
              <a:srgbClr val="E0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806440" y="3310128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App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730A3"/>
                </a:solidFill>
                <a:latin typeface="Calibri"/>
                <a:ea typeface="Calibri"/>
                <a:cs typeface="Calibri"/>
                <a:sym typeface="Calibri"/>
              </a:rPr>
              <a:t>DB / Cache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543800" y="2514600"/>
            <a:ext cx="713232" cy="749808"/>
          </a:xfrm>
          <a:prstGeom prst="roundRect">
            <a:avLst>
              <a:gd fmla="val 10256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7543800" y="2514600"/>
            <a:ext cx="71323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406640" y="12344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7900416" y="1490472"/>
            <a:ext cx="0" cy="1005840"/>
          </a:xfrm>
          <a:prstGeom prst="straightConnector1">
            <a:avLst/>
          </a:prstGeom>
          <a:noFill/>
          <a:ln cap="flat" cmpd="sng" w="19050">
            <a:solidFill>
              <a:srgbClr val="0E9F6E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16" name="Google Shape;116;p16"/>
          <p:cNvSpPr/>
          <p:nvPr/>
        </p:nvSpPr>
        <p:spPr>
          <a:xfrm>
            <a:off x="274320" y="4617720"/>
            <a:ext cx="2011680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20040" y="46268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Isolated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20040" y="48097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access unless you allow 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2468880" y="4617720"/>
            <a:ext cx="2011680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2514600" y="46268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Spans all AZs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514600" y="48097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Subnets live in one AZ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663440" y="4617720"/>
            <a:ext cx="2011680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4709160" y="46268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709160" y="48097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Pay for resources inside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858000" y="4617720"/>
            <a:ext cx="2011680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903720" y="46268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Soft limit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903720" y="48097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VPCs per region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CIDR &amp; IP Addressing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to carve up your IP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65760" y="15544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Reading CIDR notation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65760" y="1901952"/>
            <a:ext cx="749808" cy="54864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365760" y="1901952"/>
            <a:ext cx="7498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115568" y="1901952"/>
            <a:ext cx="164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280160" y="1901952"/>
            <a:ext cx="749808" cy="54864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280160" y="1901952"/>
            <a:ext cx="7498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029968" y="1901952"/>
            <a:ext cx="164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194560" y="1901952"/>
            <a:ext cx="749808" cy="5486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2194560" y="1901952"/>
            <a:ext cx="7498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944368" y="1901952"/>
            <a:ext cx="164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108960" y="1901952"/>
            <a:ext cx="749808" cy="5486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3108960" y="1901952"/>
            <a:ext cx="7498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297680" y="1901952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/16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65760" y="25420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Fixed (network part)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377440" y="25420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Free = 2¹⁶ = 65,536 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7"/>
          <p:cNvCxnSpPr/>
          <p:nvPr/>
        </p:nvCxnSpPr>
        <p:spPr>
          <a:xfrm>
            <a:off x="365760" y="2487168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377440" y="2487168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7"/>
          <p:cNvSpPr/>
          <p:nvPr/>
        </p:nvSpPr>
        <p:spPr>
          <a:xfrm>
            <a:off x="365760" y="288036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CIDR cheatsheet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65760" y="3218688"/>
            <a:ext cx="4114800" cy="310896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38912" y="3218688"/>
            <a:ext cx="640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/16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143000" y="321868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65,536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560320" y="321868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Entire VPC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65760" y="3566160"/>
            <a:ext cx="4114800" cy="310896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438912" y="3566160"/>
            <a:ext cx="640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/24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143000" y="356616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256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560320" y="356616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 subnet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65760" y="3913632"/>
            <a:ext cx="4114800" cy="310896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38912" y="3913632"/>
            <a:ext cx="640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/28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143000" y="39136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16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560320" y="391363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DB / small subnet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65760" y="4261104"/>
            <a:ext cx="4114800" cy="310896"/>
          </a:xfrm>
          <a:prstGeom prst="rect">
            <a:avLst/>
          </a:prstGeom>
          <a:solidFill>
            <a:srgbClr val="FCE7F3"/>
          </a:solidFill>
          <a:ln cap="flat" cmpd="sng" w="12700">
            <a:solidFill>
              <a:srgbClr val="FC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38912" y="4261104"/>
            <a:ext cx="640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143000" y="426110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560320" y="426110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0.0.0.0/0 = anywhere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65760" y="4681728"/>
            <a:ext cx="4114800" cy="36576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457200" y="470001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AWS reserves 5 IPs per subnet — /24 gives 251 usable 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846320" y="155448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IP planning hierarchy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846320" y="1901952"/>
            <a:ext cx="393192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4846320" y="1901952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VPC  10.0.0.0/16   (65,536 IPs)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7"/>
          <p:cNvCxnSpPr/>
          <p:nvPr/>
        </p:nvCxnSpPr>
        <p:spPr>
          <a:xfrm>
            <a:off x="5760720" y="239572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6" name="Google Shape;176;p17"/>
          <p:cNvCxnSpPr/>
          <p:nvPr/>
        </p:nvCxnSpPr>
        <p:spPr>
          <a:xfrm>
            <a:off x="7863840" y="239572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7" name="Google Shape;177;p17"/>
          <p:cNvSpPr/>
          <p:nvPr/>
        </p:nvSpPr>
        <p:spPr>
          <a:xfrm>
            <a:off x="4846320" y="2670048"/>
            <a:ext cx="1737360" cy="438912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4846320" y="267004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Public-A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10.0.1.0/24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766560" y="2670048"/>
            <a:ext cx="1783080" cy="43891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6766560" y="267004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Private-A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10.0.11.0/24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7"/>
          <p:cNvCxnSpPr/>
          <p:nvPr/>
        </p:nvCxnSpPr>
        <p:spPr>
          <a:xfrm>
            <a:off x="5715000" y="312724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2" name="Google Shape;182;p17"/>
          <p:cNvCxnSpPr/>
          <p:nvPr/>
        </p:nvCxnSpPr>
        <p:spPr>
          <a:xfrm>
            <a:off x="7680960" y="312724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3" name="Google Shape;183;p17"/>
          <p:cNvSpPr/>
          <p:nvPr/>
        </p:nvSpPr>
        <p:spPr>
          <a:xfrm>
            <a:off x="4846320" y="3401568"/>
            <a:ext cx="1737360" cy="438912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4846320" y="340156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Public-B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10.0.2.0/24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766560" y="3401568"/>
            <a:ext cx="1783080" cy="43891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766560" y="340156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Private-B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10.0.12.0/24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4846320" y="39502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2424"/>
              </a:buClr>
              <a:buSzPts val="1000"/>
              <a:buFont typeface="Calibri"/>
              <a:buNone/>
            </a:pPr>
            <a:r>
              <a:rPr b="1" i="1" lang="en-GB" sz="1000" u="none" cap="none" strike="noStrike">
                <a:solidFill>
                  <a:srgbClr val="E02424"/>
                </a:solidFill>
                <a:latin typeface="Calibri"/>
                <a:ea typeface="Calibri"/>
                <a:cs typeface="Calibri"/>
                <a:sym typeface="Calibri"/>
              </a:rPr>
              <a:t>Always plan CIDR before building — you cannot change VPC CIDR later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Subnets &amp; Routing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traffic flows through your VPC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566160" y="1554480"/>
            <a:ext cx="2011680" cy="411480"/>
          </a:xfrm>
          <a:prstGeom prst="roundRect">
            <a:avLst>
              <a:gd fmla="val 17778" name="adj"/>
            </a:avLst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3566160" y="15544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8"/>
          <p:cNvCxnSpPr/>
          <p:nvPr/>
        </p:nvCxnSpPr>
        <p:spPr>
          <a:xfrm>
            <a:off x="4572000" y="1984248"/>
            <a:ext cx="0" cy="320040"/>
          </a:xfrm>
          <a:prstGeom prst="straightConnector1">
            <a:avLst/>
          </a:prstGeom>
          <a:noFill/>
          <a:ln cap="flat" cmpd="sng" w="22850">
            <a:solidFill>
              <a:srgbClr val="0E9F6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9" name="Google Shape;199;p18"/>
          <p:cNvSpPr/>
          <p:nvPr/>
        </p:nvSpPr>
        <p:spPr>
          <a:xfrm>
            <a:off x="3566160" y="2322576"/>
            <a:ext cx="2011680" cy="411480"/>
          </a:xfrm>
          <a:prstGeom prst="roundRect">
            <a:avLst>
              <a:gd fmla="val 17778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3566160" y="2322576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 Gateway (IGW)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8"/>
          <p:cNvCxnSpPr/>
          <p:nvPr/>
        </p:nvCxnSpPr>
        <p:spPr>
          <a:xfrm>
            <a:off x="4572000" y="275234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1A56D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2" name="Google Shape;202;p18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502920" y="305409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 Subnet  (Route: 0.0.0.0/0 → IGW)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40080" y="3273552"/>
            <a:ext cx="1828800" cy="402336"/>
          </a:xfrm>
          <a:prstGeom prst="roundRect">
            <a:avLst>
              <a:gd fmla="val 18182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640080" y="327355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 / Load Balancer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2834640" y="3273552"/>
            <a:ext cx="1463040" cy="402336"/>
          </a:xfrm>
          <a:prstGeom prst="roundRect">
            <a:avLst>
              <a:gd fmla="val 18182" name="adj"/>
            </a:avLst>
          </a:prstGeom>
          <a:solidFill>
            <a:srgbClr val="A7F3D0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2834640" y="3273552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Bastion Host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572000" y="3273552"/>
            <a:ext cx="1463040" cy="402336"/>
          </a:xfrm>
          <a:prstGeom prst="roundRect">
            <a:avLst>
              <a:gd fmla="val 18182" name="adj"/>
            </a:avLst>
          </a:prstGeom>
          <a:solidFill>
            <a:srgbClr val="A7F3D0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4572000" y="3273552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NAT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17920" y="3273552"/>
            <a:ext cx="2286000" cy="402336"/>
          </a:xfrm>
          <a:prstGeom prst="roundRect">
            <a:avLst>
              <a:gd fmla="val 18182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6217920" y="327355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Elastic IP attached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8"/>
          <p:cNvCxnSpPr/>
          <p:nvPr/>
        </p:nvCxnSpPr>
        <p:spPr>
          <a:xfrm>
            <a:off x="1554480" y="378561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1A56D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3" name="Google Shape;213;p18"/>
          <p:cNvCxnSpPr/>
          <p:nvPr/>
        </p:nvCxnSpPr>
        <p:spPr>
          <a:xfrm>
            <a:off x="5303520" y="3785616"/>
            <a:ext cx="0" cy="256032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214" name="Google Shape;214;p18"/>
          <p:cNvSpPr/>
          <p:nvPr/>
        </p:nvSpPr>
        <p:spPr>
          <a:xfrm>
            <a:off x="365760" y="4050792"/>
            <a:ext cx="8412480" cy="77724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4087368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 Subnet  (Route: 0.0.0.0/0 → NAT Gateway)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40080" y="4306824"/>
            <a:ext cx="1828800" cy="402336"/>
          </a:xfrm>
          <a:prstGeom prst="roundRect">
            <a:avLst>
              <a:gd fmla="val 18182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40080" y="430682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Servers (EC2)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2834640" y="4306824"/>
            <a:ext cx="1463040" cy="402336"/>
          </a:xfrm>
          <a:prstGeom prst="roundRect">
            <a:avLst>
              <a:gd fmla="val 18182" name="adj"/>
            </a:avLst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2834640" y="4306824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ECS / Lambda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572000" y="4306824"/>
            <a:ext cx="1463040" cy="402336"/>
          </a:xfrm>
          <a:prstGeom prst="roundRect">
            <a:avLst>
              <a:gd fmla="val 18182" name="adj"/>
            </a:avLst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4572000" y="4306824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RDS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17920" y="4306824"/>
            <a:ext cx="2286000" cy="402336"/>
          </a:xfrm>
          <a:prstGeom prst="roundRect">
            <a:avLst>
              <a:gd fmla="val 18182" name="adj"/>
            </a:avLst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6217920" y="430682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ElastiCache / etc.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Route table = signboard that tells traffic WHERE to go. Public subnet has IGW route. Private subnet has NAT route.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35652" y="232700"/>
            <a:ext cx="80823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04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35652" y="422990"/>
            <a:ext cx="8082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959"/>
              <a:buFont typeface="Calibri"/>
              <a:buNone/>
            </a:pPr>
            <a:r>
              <a:rPr b="1" i="0" lang="en-GB" sz="2959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Security: SGs &amp; NACLs</a:t>
            </a:r>
            <a:endParaRPr b="0" i="0" sz="2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5652" y="977985"/>
            <a:ext cx="80823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95"/>
              <a:buFont typeface="Calibri"/>
              <a:buNone/>
            </a:pPr>
            <a:r>
              <a:rPr b="0" i="0" lang="en-GB" sz="129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independent firewall layers in every VPC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56075" y="1342705"/>
            <a:ext cx="8441400" cy="2525100"/>
          </a:xfrm>
          <a:prstGeom prst="rect">
            <a:avLst/>
          </a:prstGeom>
          <a:solidFill>
            <a:srgbClr val="FFF7ED"/>
          </a:solidFill>
          <a:ln cap="flat" cmpd="sng" w="17625">
            <a:solidFill>
              <a:srgbClr val="D9770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34" name="Google Shape;234;p19"/>
          <p:cNvSpPr/>
          <p:nvPr/>
        </p:nvSpPr>
        <p:spPr>
          <a:xfrm>
            <a:off x="1893325" y="1358576"/>
            <a:ext cx="3232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Network ACL — Subnet boundary (stateless)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00951" y="1342699"/>
            <a:ext cx="1436700" cy="174300"/>
          </a:xfrm>
          <a:prstGeom prst="roundRect">
            <a:avLst>
              <a:gd fmla="val 27273" name="adj"/>
            </a:avLst>
          </a:prstGeom>
          <a:solidFill>
            <a:srgbClr val="D97706"/>
          </a:solidFill>
          <a:ln cap="flat" cmpd="sng" w="117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36" name="Google Shape;236;p19"/>
          <p:cNvSpPr/>
          <p:nvPr/>
        </p:nvSpPr>
        <p:spPr>
          <a:xfrm>
            <a:off x="500951" y="1342699"/>
            <a:ext cx="1437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NACL — Stateless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431674" y="1636056"/>
            <a:ext cx="4490100" cy="2180400"/>
          </a:xfrm>
          <a:prstGeom prst="rect">
            <a:avLst/>
          </a:prstGeom>
          <a:solidFill>
            <a:srgbClr val="EFF6FF"/>
          </a:solidFill>
          <a:ln cap="flat" cmpd="sng" w="17625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2431674" y="1636056"/>
            <a:ext cx="1436700" cy="174300"/>
          </a:xfrm>
          <a:prstGeom prst="roundRect">
            <a:avLst>
              <a:gd fmla="val 27273" name="adj"/>
            </a:avLst>
          </a:prstGeom>
          <a:solidFill>
            <a:srgbClr val="1A56DB"/>
          </a:solidFill>
          <a:ln cap="flat" cmpd="sng" w="1175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2431674" y="1636056"/>
            <a:ext cx="1436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Group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329686" y="1992842"/>
            <a:ext cx="2694300" cy="1268400"/>
          </a:xfrm>
          <a:prstGeom prst="roundRect">
            <a:avLst>
              <a:gd fmla="val 5000" name="adj"/>
            </a:avLst>
          </a:prstGeom>
          <a:solidFill>
            <a:srgbClr val="0D1B2A"/>
          </a:solidFill>
          <a:ln cap="flat" cmpd="sng" w="117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3329686" y="1992842"/>
            <a:ext cx="26943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2"/>
              <a:buFont typeface="Calibri"/>
              <a:buNone/>
            </a:pPr>
            <a:r>
              <a:rPr b="1" i="0" lang="en-GB" sz="12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EC2 Instance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9"/>
          <p:cNvCxnSpPr/>
          <p:nvPr/>
        </p:nvCxnSpPr>
        <p:spPr>
          <a:xfrm>
            <a:off x="456050" y="2627127"/>
            <a:ext cx="1975800" cy="0"/>
          </a:xfrm>
          <a:prstGeom prst="straightConnector1">
            <a:avLst/>
          </a:prstGeom>
          <a:noFill/>
          <a:ln cap="flat" cmpd="sng" w="23475">
            <a:solidFill>
              <a:srgbClr val="D9770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3" name="Google Shape;243;p19"/>
          <p:cNvSpPr/>
          <p:nvPr/>
        </p:nvSpPr>
        <p:spPr>
          <a:xfrm>
            <a:off x="500951" y="2270342"/>
            <a:ext cx="18858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Inbound check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(rule # order)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9"/>
          <p:cNvCxnSpPr/>
          <p:nvPr/>
        </p:nvCxnSpPr>
        <p:spPr>
          <a:xfrm>
            <a:off x="6921730" y="2785699"/>
            <a:ext cx="1885800" cy="0"/>
          </a:xfrm>
          <a:prstGeom prst="straightConnector1">
            <a:avLst/>
          </a:prstGeom>
          <a:noFill/>
          <a:ln cap="flat" cmpd="sng" w="23475">
            <a:solidFill>
              <a:srgbClr val="D9770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5" name="Google Shape;245;p19"/>
          <p:cNvSpPr/>
          <p:nvPr/>
        </p:nvSpPr>
        <p:spPr>
          <a:xfrm>
            <a:off x="6966630" y="2389270"/>
            <a:ext cx="18858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Outbound check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(must add explicitly)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9"/>
          <p:cNvCxnSpPr/>
          <p:nvPr/>
        </p:nvCxnSpPr>
        <p:spPr>
          <a:xfrm>
            <a:off x="2431674" y="2547842"/>
            <a:ext cx="898200" cy="0"/>
          </a:xfrm>
          <a:prstGeom prst="straightConnector1">
            <a:avLst/>
          </a:prstGeom>
          <a:noFill/>
          <a:ln cap="flat" cmpd="sng" w="23475">
            <a:solidFill>
              <a:srgbClr val="1A56D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7" name="Google Shape;247;p19"/>
          <p:cNvSpPr/>
          <p:nvPr/>
        </p:nvSpPr>
        <p:spPr>
          <a:xfrm>
            <a:off x="2431674" y="2825342"/>
            <a:ext cx="8982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740"/>
              <a:buFont typeface="Calibri"/>
              <a:buNone/>
            </a:pPr>
            <a:r>
              <a:rPr b="0" i="0" lang="en-GB" sz="74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Stateful</a:t>
            </a:r>
            <a:endParaRPr b="0" i="0" sz="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740"/>
              <a:buFont typeface="Calibri"/>
              <a:buNone/>
            </a:pPr>
            <a:r>
              <a:rPr b="0" i="0" lang="en-GB" sz="74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(auto-tracks)</a:t>
            </a:r>
            <a:endParaRPr b="0" i="0" sz="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56050" y="3562698"/>
            <a:ext cx="1616400" cy="237600"/>
          </a:xfrm>
          <a:prstGeom prst="rect">
            <a:avLst/>
          </a:prstGeom>
          <a:solidFill>
            <a:srgbClr val="0D1B2A"/>
          </a:solidFill>
          <a:ln cap="flat" cmpd="sng" w="117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49" name="Google Shape;249;p19"/>
          <p:cNvSpPr/>
          <p:nvPr/>
        </p:nvSpPr>
        <p:spPr>
          <a:xfrm>
            <a:off x="500951" y="3760913"/>
            <a:ext cx="152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5"/>
              <a:buFont typeface="Calibri"/>
              <a:buNone/>
            </a:pPr>
            <a:r>
              <a:t/>
            </a:r>
            <a:endParaRPr b="0" i="0" sz="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072470" y="3562698"/>
            <a:ext cx="3232500" cy="237600"/>
          </a:xfrm>
          <a:prstGeom prst="rect">
            <a:avLst/>
          </a:prstGeom>
          <a:solidFill>
            <a:srgbClr val="0D1B2A"/>
          </a:solidFill>
          <a:ln cap="flat" cmpd="sng" w="117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117371" y="3562698"/>
            <a:ext cx="314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5"/>
              <a:buFont typeface="Calibri"/>
              <a:buNone/>
            </a:pPr>
            <a:r>
              <a:rPr b="1" i="0" lang="en-GB" sz="9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Group</a:t>
            </a:r>
            <a:endParaRPr b="0" i="0" sz="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305310" y="3562698"/>
            <a:ext cx="3232500" cy="237600"/>
          </a:xfrm>
          <a:prstGeom prst="rect">
            <a:avLst/>
          </a:prstGeom>
          <a:solidFill>
            <a:srgbClr val="0D1B2A"/>
          </a:solidFill>
          <a:ln cap="flat" cmpd="sng" w="117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5350210" y="3562698"/>
            <a:ext cx="314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5"/>
              <a:buFont typeface="Calibri"/>
              <a:buNone/>
            </a:pPr>
            <a:r>
              <a:rPr b="1" i="0" lang="en-GB" sz="9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ACL</a:t>
            </a:r>
            <a:endParaRPr b="0" i="0" sz="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456050" y="3816413"/>
            <a:ext cx="16164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500951" y="3816413"/>
            <a:ext cx="1526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Applies to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2072470" y="3816413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2117371" y="3816413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EC2 instance (ENI)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5305310" y="3816413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5350210" y="3816413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56050" y="4038412"/>
            <a:ext cx="16164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00951" y="4038412"/>
            <a:ext cx="1526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072470" y="4038412"/>
            <a:ext cx="32325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117371" y="4038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Stateful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305310" y="4038412"/>
            <a:ext cx="32325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5350210" y="4038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456050" y="4260412"/>
            <a:ext cx="16164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500951" y="4260412"/>
            <a:ext cx="1526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072470" y="4260412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117371" y="4260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Allow only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5305310" y="4260412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5350210" y="4260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Allow + Deny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56050" y="4482412"/>
            <a:ext cx="16164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500951" y="4482412"/>
            <a:ext cx="1526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2072470" y="4482412"/>
            <a:ext cx="32325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2117371" y="4482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rules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5305310" y="4482412"/>
            <a:ext cx="3232500" cy="206400"/>
          </a:xfrm>
          <a:prstGeom prst="rect">
            <a:avLst/>
          </a:prstGeom>
          <a:solidFill>
            <a:srgbClr val="F1F5F9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5350210" y="4482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 order (#)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56050" y="4704412"/>
            <a:ext cx="16164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500951" y="4704412"/>
            <a:ext cx="1526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2"/>
              <a:buFont typeface="Calibri"/>
              <a:buNone/>
            </a:pPr>
            <a:r>
              <a:rPr b="1" i="0" lang="en-GB" sz="832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Default (new)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2072470" y="4704412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2117371" y="4704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Deny all inbound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5305310" y="4704412"/>
            <a:ext cx="3232500" cy="206400"/>
          </a:xfrm>
          <a:prstGeom prst="rect">
            <a:avLst/>
          </a:prstGeom>
          <a:solidFill>
            <a:srgbClr val="FFFFFF"/>
          </a:solidFill>
          <a:ln cap="flat" cmpd="sng" w="8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5350210" y="4704412"/>
            <a:ext cx="3143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275" lIns="84550" spcFirstLastPara="1" rIns="84550" wrap="square" tIns="4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32"/>
              <a:buFont typeface="Calibri"/>
              <a:buNone/>
            </a:pPr>
            <a:r>
              <a:rPr b="0" i="0" lang="en-GB" sz="83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Allow all</a:t>
            </a:r>
            <a:endParaRPr b="0" i="0" sz="8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</a:t>
            </a:r>
            <a:r>
              <a:rPr b="1" lang="en-GB" sz="900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Production VPC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3-tier, multi-AZ, production-ready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3566160" y="1508760"/>
            <a:ext cx="2011680" cy="347472"/>
          </a:xfrm>
          <a:prstGeom prst="roundRect">
            <a:avLst>
              <a:gd fmla="val 21053" name="adj"/>
            </a:avLst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3566160" y="15087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20"/>
          <p:cNvCxnSpPr/>
          <p:nvPr/>
        </p:nvCxnSpPr>
        <p:spPr>
          <a:xfrm>
            <a:off x="4572000" y="187452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0E9F6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5" name="Google Shape;295;p20"/>
          <p:cNvSpPr/>
          <p:nvPr/>
        </p:nvSpPr>
        <p:spPr>
          <a:xfrm>
            <a:off x="3566160" y="2084832"/>
            <a:ext cx="2011680" cy="329184"/>
          </a:xfrm>
          <a:prstGeom prst="roundRect">
            <a:avLst>
              <a:gd fmla="val 22222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3566160" y="208483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0"/>
          <p:cNvCxnSpPr/>
          <p:nvPr/>
        </p:nvCxnSpPr>
        <p:spPr>
          <a:xfrm>
            <a:off x="4572000" y="2432304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0E9F6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8" name="Google Shape;298;p20"/>
          <p:cNvSpPr/>
          <p:nvPr/>
        </p:nvSpPr>
        <p:spPr>
          <a:xfrm>
            <a:off x="274320" y="2633472"/>
            <a:ext cx="4206240" cy="201168"/>
          </a:xfrm>
          <a:prstGeom prst="rect">
            <a:avLst/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274320" y="263347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Availability Zone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4663440" y="2633472"/>
            <a:ext cx="4206240" cy="201168"/>
          </a:xfrm>
          <a:prstGeom prst="rect">
            <a:avLst/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4663440" y="263347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Availability Zone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274320" y="2852928"/>
            <a:ext cx="8595360" cy="548640"/>
          </a:xfrm>
          <a:prstGeom prst="rect">
            <a:avLst/>
          </a:prstGeom>
          <a:solidFill>
            <a:srgbClr val="ECFDF5"/>
          </a:solidFill>
          <a:ln cap="flat" cmpd="sng" w="1015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320040" y="2871216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PUBLIC SUBNETS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65760" y="3035808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365760" y="3035808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  (10.0.1.0/24)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2468880" y="3035808"/>
            <a:ext cx="1828800" cy="310896"/>
          </a:xfrm>
          <a:prstGeom prst="roundRect">
            <a:avLst>
              <a:gd fmla="val 23529" name="adj"/>
            </a:avLst>
          </a:prstGeom>
          <a:solidFill>
            <a:srgbClr val="A7F3D0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2468880" y="303580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NAT GW + EIP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663440" y="3035808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4663440" y="3035808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  (10.0.2.0/24)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766560" y="3035808"/>
            <a:ext cx="2011680" cy="310896"/>
          </a:xfrm>
          <a:prstGeom prst="roundRect">
            <a:avLst>
              <a:gd fmla="val 23529" name="adj"/>
            </a:avLst>
          </a:prstGeom>
          <a:solidFill>
            <a:srgbClr val="A7F3D0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6766560" y="303580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NAT GW + EIP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274320" y="3456432"/>
            <a:ext cx="8595360" cy="566928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320040" y="3474720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PRIVATE — APP TIER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365760" y="3639312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365760" y="3639312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EC2 / ECS  (app)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2468880" y="3639312"/>
            <a:ext cx="1828800" cy="310896"/>
          </a:xfrm>
          <a:prstGeom prst="roundRect">
            <a:avLst>
              <a:gd fmla="val 23529" name="adj"/>
            </a:avLst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2468880" y="363931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Lambda /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4663440" y="3639312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4663440" y="3639312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EC2 / ECS  (app)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6766560" y="3639312"/>
            <a:ext cx="2011680" cy="310896"/>
          </a:xfrm>
          <a:prstGeom prst="roundRect">
            <a:avLst>
              <a:gd fmla="val 23529" name="adj"/>
            </a:avLst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6766560" y="363931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Lambda /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74320" y="4133088"/>
            <a:ext cx="8595360" cy="566928"/>
          </a:xfrm>
          <a:prstGeom prst="rect">
            <a:avLst/>
          </a:prstGeom>
          <a:solidFill>
            <a:srgbClr val="FDF4FF"/>
          </a:solidFill>
          <a:ln cap="flat" cmpd="sng" w="1015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20040" y="4151376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C87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581C87"/>
                </a:solidFill>
                <a:latin typeface="Calibri"/>
                <a:ea typeface="Calibri"/>
                <a:cs typeface="Calibri"/>
                <a:sym typeface="Calibri"/>
              </a:rPr>
              <a:t>PRIVATE — DATA TIER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365760" y="4315968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365760" y="4315968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RDS Primary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2468880" y="4315968"/>
            <a:ext cx="1828800" cy="310896"/>
          </a:xfrm>
          <a:prstGeom prst="roundRect">
            <a:avLst>
              <a:gd fmla="val 23529" name="adj"/>
            </a:avLst>
          </a:prstGeom>
          <a:solidFill>
            <a:srgbClr val="E9D5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2468880" y="431596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C87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81C87"/>
                </a:solidFill>
                <a:latin typeface="Calibri"/>
                <a:ea typeface="Calibri"/>
                <a:cs typeface="Calibri"/>
                <a:sym typeface="Calibri"/>
              </a:rPr>
              <a:t>ElastiCache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4663440" y="4315968"/>
            <a:ext cx="1920240" cy="310896"/>
          </a:xfrm>
          <a:prstGeom prst="roundRect">
            <a:avLst>
              <a:gd fmla="val 23529" name="adj"/>
            </a:avLst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4663440" y="4315968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RDS Replica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6766560" y="4315968"/>
            <a:ext cx="2011680" cy="310896"/>
          </a:xfrm>
          <a:prstGeom prst="roundRect">
            <a:avLst>
              <a:gd fmla="val 23529" name="adj"/>
            </a:avLst>
          </a:prstGeom>
          <a:solidFill>
            <a:srgbClr val="E9D5FF"/>
          </a:solidFill>
          <a:ln cap="flat" cmpd="sng" w="127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766560" y="43159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C87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581C87"/>
                </a:solidFill>
                <a:latin typeface="Calibri"/>
                <a:ea typeface="Calibri"/>
                <a:cs typeface="Calibri"/>
                <a:sym typeface="Calibri"/>
              </a:rPr>
              <a:t>ElastiCache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20"/>
          <p:cNvCxnSpPr/>
          <p:nvPr/>
        </p:nvCxnSpPr>
        <p:spPr>
          <a:xfrm>
            <a:off x="1325880" y="3346704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1A56D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3" name="Google Shape;333;p20"/>
          <p:cNvCxnSpPr/>
          <p:nvPr/>
        </p:nvCxnSpPr>
        <p:spPr>
          <a:xfrm>
            <a:off x="1325880" y="4023360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C2BD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4" name="Google Shape;334;p20"/>
          <p:cNvCxnSpPr/>
          <p:nvPr/>
        </p:nvCxnSpPr>
        <p:spPr>
          <a:xfrm>
            <a:off x="5623560" y="3346704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1A56D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5" name="Google Shape;335;p20"/>
          <p:cNvCxnSpPr/>
          <p:nvPr/>
        </p:nvCxnSpPr>
        <p:spPr>
          <a:xfrm>
            <a:off x="5623560" y="4023360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C2BD9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6" name="Google Shape;336;p2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365760" y="4809744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VPC Flow Logs  →  CloudWatch / S3  |  SGs on each resource  |  Deploy via Terraform  |  Tag everything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MODULE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Common VPC Mistakes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to avoid in every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274320" y="1508760"/>
            <a:ext cx="4160520" cy="141732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0242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274320" y="1508760"/>
            <a:ext cx="502920" cy="1417320"/>
          </a:xfrm>
          <a:prstGeom prst="rect">
            <a:avLst/>
          </a:prstGeom>
          <a:solidFill>
            <a:srgbClr val="E02424"/>
          </a:solidFill>
          <a:ln cap="flat" cmpd="sng" w="12700">
            <a:solidFill>
              <a:srgbClr val="E0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274320" y="1508760"/>
            <a:ext cx="502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868680" y="16184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Overlapping CIDR ranges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868680" y="18928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VPCs with the same CIDR (e.g. 10.0.0.0/16) can NEVER be peered. Plan IP space upfront — you cannot change VPC CIDR after creation.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709160" y="1508760"/>
            <a:ext cx="4160520" cy="141732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4709160" y="1508760"/>
            <a:ext cx="502920" cy="1417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4709160" y="1508760"/>
            <a:ext cx="502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5303520" y="16184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Database in public subnet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5303520" y="18928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RDS / databases must NEVER sit in a public subnet. Always private subnet with Security Group restricting access to app tier only.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274320" y="3108960"/>
            <a:ext cx="4160520" cy="14173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274320" y="3108960"/>
            <a:ext cx="502920" cy="141732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274320" y="3108960"/>
            <a:ext cx="502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868680" y="32186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SSH open to 0.0.0.0/0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868680" y="34930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22 open to the world = instant brute-force target. Restrict SSH to your IP only, or better — use AWS SSM Session Manager instead.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4709160" y="3108960"/>
            <a:ext cx="4160520" cy="14173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4709160" y="3108960"/>
            <a:ext cx="502920" cy="141732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4709160" y="3108960"/>
            <a:ext cx="502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5303520" y="32186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VPC Flow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5303520" y="34930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cannot debug or audit what you cannot see. Enable Flow Logs from day one — send to CloudWatch Logs for live querying or S3 for cost-effective archival.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your VPC design against this checklist before every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have learned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640080" y="1188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VPC Basics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640080" y="14813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Isolated private network · regions &amp; AZs · default vs custom VPC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846320" y="109728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4846320" y="1097280"/>
            <a:ext cx="73152" cy="914400"/>
          </a:xfrm>
          <a:prstGeom prst="rect">
            <a:avLst/>
          </a:prstGeom>
          <a:solidFill>
            <a:srgbClr val="0E9F6E"/>
          </a:solidFill>
          <a:ln cap="flat" cmpd="sng" w="12700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5029200" y="1188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CIDR &amp; 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5029200" y="14813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 addressing · CIDR notation · subnet sizing · /16 → /24 → /28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57200" y="219456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640080" y="22860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Subnets &amp;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40080" y="25786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Public vs private · IGW · route tables · 3-tier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4846320" y="219456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0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4846320" y="2194560"/>
            <a:ext cx="73152" cy="914400"/>
          </a:xfrm>
          <a:prstGeom prst="rect">
            <a:avLst/>
          </a:prstGeom>
          <a:solidFill>
            <a:srgbClr val="E02424"/>
          </a:solidFill>
          <a:ln cap="flat" cmpd="sng" w="12700">
            <a:solidFill>
              <a:srgbClr val="E0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5029200" y="22860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029200" y="25786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 Groups (stateful) · NACLs (stateless) · least privilege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57200" y="329184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57200" y="3291840"/>
            <a:ext cx="73152" cy="91440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640080" y="3383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NAT &amp; Peering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640080" y="367588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NAT Gateway · VPC Peering · Transit Gateway · Site-to-Site VPN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846320" y="3291840"/>
            <a:ext cx="402336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4846320" y="3291840"/>
            <a:ext cx="73152" cy="914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5029200" y="3383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5029200" y="367588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Multi-AZ design · ALB · Flow Logs · Terraform IaC · common mistakes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